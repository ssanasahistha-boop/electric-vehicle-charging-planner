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F3E1-7FDC-7491-1B74-BABB396A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D8B235-37D8-7520-E7BC-189213ABC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6981"/>
            <a:ext cx="12192000" cy="703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3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457200"/>
            <a:ext cx="1920240" cy="1920240"/>
          </a:xfrm>
          <a:prstGeom prst="ellipse">
            <a:avLst/>
          </a:prstGeom>
          <a:solidFill>
            <a:srgbClr val="1C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78440" y="1600200"/>
            <a:ext cx="1143000" cy="1143000"/>
          </a:xfrm>
          <a:prstGeom prst="ellipse">
            <a:avLst/>
          </a:prstGeom>
          <a:solidFill>
            <a:srgbClr val="2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54864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200" b="1">
                <a:solidFill>
                  <a:srgbClr val="C2E65B"/>
                </a:solidFill>
                <a:latin typeface="Aptos"/>
              </a:defRPr>
            </a:pPr>
            <a:r>
              <a:t>SMART MOBILITY  /  DESIGN &amp;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76656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Electric Vehicle</a:t>
            </a:r>
            <a:br/>
            <a:r>
              <a:t>Charging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56692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0">
                <a:solidFill>
                  <a:srgbClr val="DAE8EF"/>
                </a:solidFill>
                <a:latin typeface="Aptos"/>
              </a:defRPr>
            </a:pPr>
            <a:r>
              <a:t>Intelligent station recommendations and energy-aware route 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3936" y="3391509"/>
            <a:ext cx="2468880" cy="715975"/>
          </a:xfrm>
          <a:prstGeom prst="roundRect">
            <a:avLst/>
          </a:prstGeom>
          <a:solidFill>
            <a:srgbClr val="C2E65B"/>
          </a:solidFill>
          <a:ln>
            <a:solidFill>
              <a:srgbClr val="C2E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rapezoid 8"/>
          <p:cNvSpPr/>
          <p:nvPr/>
        </p:nvSpPr>
        <p:spPr>
          <a:xfrm>
            <a:off x="8217712" y="3033522"/>
            <a:ext cx="1419606" cy="678942"/>
          </a:xfrm>
          <a:prstGeom prst="trapezoid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390534" y="3144621"/>
            <a:ext cx="530809" cy="345643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83065" y="3144621"/>
            <a:ext cx="518464" cy="345643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094268" y="3897630"/>
            <a:ext cx="518464" cy="518464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452152" y="3897630"/>
            <a:ext cx="518464" cy="518464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54746" y="4058107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12630" y="4058107"/>
            <a:ext cx="197510" cy="19751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4120" y="2606040"/>
            <a:ext cx="857250" cy="1543050"/>
          </a:xfrm>
          <a:prstGeom prst="roundRect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52710" y="2788920"/>
            <a:ext cx="560070" cy="434340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Lightning Bolt 17"/>
          <p:cNvSpPr/>
          <p:nvPr/>
        </p:nvSpPr>
        <p:spPr>
          <a:xfrm>
            <a:off x="10412730" y="3337560"/>
            <a:ext cx="274320" cy="434340"/>
          </a:xfrm>
          <a:prstGeom prst="lightningBolt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10961370" y="2971800"/>
            <a:ext cx="285750" cy="262890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247120" y="3234690"/>
            <a:ext cx="0" cy="457199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109960" y="3634740"/>
            <a:ext cx="285750" cy="285750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7772400" y="4343400"/>
            <a:ext cx="2788920" cy="0"/>
          </a:xfrm>
          <a:prstGeom prst="line">
            <a:avLst/>
          </a:prstGeom>
          <a:ln w="38100">
            <a:solidFill>
              <a:srgbClr val="53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892040"/>
            <a:ext cx="54864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Core algorithms: Dijkstra  •  Greedy  •  Priority Queue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2148840" cy="438912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5879592"/>
            <a:ext cx="1828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6172200"/>
            <a:ext cx="8229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1000" b="1">
                <a:solidFill>
                  <a:srgbClr val="C8DCE4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01 • PROBLEM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The challenge: reach a charger before energy runs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An EV driver needs a route that is practical—not just the shortest distance.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400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5760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000" b="1">
                <a:solidFill>
                  <a:srgbClr val="132A42"/>
                </a:solidFill>
                <a:latin typeface="Aptos"/>
              </a:defRPr>
            </a:pPr>
            <a:r>
              <a:t>What the planner must consider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5669280" cy="265176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744"/>
                </a:solidFill>
                <a:latin typeface="Aptos"/>
              </a:defRPr>
            </a:pPr>
            <a:r>
              <a:t>•  Current battery level and estimated energy needed</a:t>
            </a:r>
          </a:p>
          <a:p>
            <a:pPr>
              <a:spcAft>
                <a:spcPts val="1300"/>
              </a:spcAft>
              <a:defRPr sz="1700">
                <a:solidFill>
                  <a:srgbClr val="283744"/>
                </a:solidFill>
                <a:latin typeface="Aptos"/>
              </a:defRPr>
            </a:pPr>
            <a:r>
              <a:t>•  Road connections and travel distance between locations</a:t>
            </a:r>
          </a:p>
          <a:p>
            <a:pPr>
              <a:spcAft>
                <a:spcPts val="1300"/>
              </a:spcAft>
              <a:defRPr sz="1700">
                <a:solidFill>
                  <a:srgbClr val="283744"/>
                </a:solidFill>
                <a:latin typeface="Aptos"/>
              </a:defRPr>
            </a:pPr>
            <a:r>
              <a:t>•  Charging-station availability and charging status</a:t>
            </a:r>
          </a:p>
          <a:p>
            <a:pPr>
              <a:spcAft>
                <a:spcPts val="1300"/>
              </a:spcAft>
              <a:defRPr sz="1700">
                <a:solidFill>
                  <a:srgbClr val="283744"/>
                </a:solidFill>
                <a:latin typeface="Aptos"/>
              </a:defRPr>
            </a:pPr>
            <a:r>
              <a:t>•  A route with feasible stops and clear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874519"/>
            <a:ext cx="4160520" cy="4160520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2148840"/>
            <a:ext cx="34747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132A42"/>
                </a:solidFill>
                <a:latin typeface="Aptos"/>
              </a:defRPr>
            </a:pPr>
            <a:r>
              <a:t>From request to recommendation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971800"/>
            <a:ext cx="777240" cy="777240"/>
          </a:xfrm>
          <a:prstGeom prst="ellipse">
            <a:avLst/>
          </a:prstGeom>
          <a:solidFill>
            <a:srgbClr val="468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</a:t>
            </a:r>
          </a:p>
        </p:txBody>
      </p:sp>
      <p:sp>
        <p:nvSpPr>
          <p:cNvPr id="12" name="Oval 11"/>
          <p:cNvSpPr/>
          <p:nvPr/>
        </p:nvSpPr>
        <p:spPr>
          <a:xfrm>
            <a:off x="9235440" y="2971800"/>
            <a:ext cx="777240" cy="77724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</a:t>
            </a:r>
          </a:p>
        </p:txBody>
      </p:sp>
      <p:sp>
        <p:nvSpPr>
          <p:cNvPr id="13" name="Oval 12"/>
          <p:cNvSpPr/>
          <p:nvPr/>
        </p:nvSpPr>
        <p:spPr>
          <a:xfrm>
            <a:off x="10744200" y="2971800"/>
            <a:ext cx="777240" cy="777240"/>
          </a:xfrm>
          <a:prstGeom prst="ellipse">
            <a:avLst/>
          </a:prstGeom>
          <a:solidFill>
            <a:srgbClr val="F5A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03920" y="3364992"/>
            <a:ext cx="731520" cy="0"/>
          </a:xfrm>
          <a:prstGeom prst="line">
            <a:avLst/>
          </a:prstGeom>
          <a:ln w="25400">
            <a:solidFill>
              <a:srgbClr val="697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12680" y="3364992"/>
            <a:ext cx="731520" cy="0"/>
          </a:xfrm>
          <a:prstGeom prst="line">
            <a:avLst/>
          </a:prstGeom>
          <a:ln w="25400">
            <a:solidFill>
              <a:srgbClr val="6978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43800" y="3886200"/>
            <a:ext cx="11430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32A42"/>
                </a:solidFill>
                <a:latin typeface="Aptos"/>
              </a:defRPr>
            </a:pPr>
            <a:r>
              <a:t>Start</a:t>
            </a:r>
            <a:br/>
            <a:r>
              <a:t>battery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86200"/>
            <a:ext cx="11430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32A42"/>
                </a:solidFill>
                <a:latin typeface="Aptos"/>
              </a:defRPr>
            </a:pPr>
            <a:r>
              <a:t>Route</a:t>
            </a:r>
            <a:br/>
            <a: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3886200"/>
            <a:ext cx="11430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32A42"/>
                </a:solidFill>
                <a:latin typeface="Aptos"/>
              </a:defRPr>
            </a:pPr>
            <a:r>
              <a:t>Charge</a:t>
            </a:r>
            <a:br/>
            <a:r>
              <a:t>stop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892040"/>
            <a:ext cx="445770" cy="802386"/>
          </a:xfrm>
          <a:prstGeom prst="roundRect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92666" y="4987137"/>
            <a:ext cx="291236" cy="225856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ghtning Bolt 20"/>
          <p:cNvSpPr/>
          <p:nvPr/>
        </p:nvSpPr>
        <p:spPr>
          <a:xfrm>
            <a:off x="9075877" y="5272430"/>
            <a:ext cx="142646" cy="225856"/>
          </a:xfrm>
          <a:prstGeom prst="lightningBolt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361170" y="5082235"/>
            <a:ext cx="148590" cy="136703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509760" y="5218938"/>
            <a:ext cx="0" cy="237743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38436" y="5426964"/>
            <a:ext cx="148590" cy="148590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6679" y="5596128"/>
            <a:ext cx="34747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E9669"/>
                </a:solidFill>
                <a:latin typeface="Aptos"/>
              </a:defRPr>
            </a:pPr>
            <a:r>
              <a:t>Feasible path + station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02 • SYSTEM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Represent the journey as a weighted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Locations become nodes; roads become edges with non-negative travel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583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Connector 6"/>
          <p:cNvCxnSpPr/>
          <p:nvPr/>
        </p:nvCxnSpPr>
        <p:spPr>
          <a:xfrm flipV="1">
            <a:off x="1536192" y="2633472"/>
            <a:ext cx="1828800" cy="32004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53746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14016" y="256032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64992" y="2633472"/>
            <a:ext cx="1965960" cy="36576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74820" y="256032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11396" y="2583179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36192" y="2953512"/>
            <a:ext cx="960120" cy="187452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43100" y="363474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79676" y="365760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496312" y="2633472"/>
            <a:ext cx="868680" cy="219456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57500" y="347472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94076" y="3497579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96312" y="4828032"/>
            <a:ext cx="2057400" cy="9144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1860" y="461772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88436" y="464058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64992" y="2633472"/>
            <a:ext cx="1188720" cy="228600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86200" y="352044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22776" y="354330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553712" y="2999232"/>
            <a:ext cx="777240" cy="192024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69180" y="370332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5756" y="372618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30952" y="2999232"/>
            <a:ext cx="1005840" cy="132588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760720" y="340614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97296" y="342900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553712" y="4325112"/>
            <a:ext cx="1783080" cy="594360"/>
          </a:xfrm>
          <a:prstGeom prst="line">
            <a:avLst/>
          </a:prstGeom>
          <a:ln w="25400">
            <a:solidFill>
              <a:srgbClr val="AAB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372100" y="4366260"/>
            <a:ext cx="347472" cy="237744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08676" y="4389120"/>
            <a:ext cx="2743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000" b="1">
                <a:solidFill>
                  <a:srgbClr val="132A4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Oval 33"/>
          <p:cNvSpPr/>
          <p:nvPr/>
        </p:nvSpPr>
        <p:spPr>
          <a:xfrm>
            <a:off x="1325880" y="2743200"/>
            <a:ext cx="438912" cy="438912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3154680" y="2423160"/>
            <a:ext cx="438912" cy="438912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5120640" y="2788920"/>
            <a:ext cx="438912" cy="438912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2286000" y="4617720"/>
            <a:ext cx="438912" cy="438912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4343400" y="4709160"/>
            <a:ext cx="438912" cy="438912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6126480" y="4114800"/>
            <a:ext cx="438912" cy="438912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623560"/>
            <a:ext cx="5943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0">
                <a:solidFill>
                  <a:srgbClr val="697884"/>
                </a:solidFill>
                <a:latin typeface="Aptos"/>
              </a:defRPr>
            </a:pPr>
            <a:r>
              <a:t>Example network • edge labels represent distance/cost units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1874519"/>
            <a:ext cx="3977639" cy="4206240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2194560"/>
            <a:ext cx="33832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900" b="1">
                <a:solidFill>
                  <a:srgbClr val="132A42"/>
                </a:solidFill>
                <a:latin typeface="Aptos"/>
              </a:defRPr>
            </a:pPr>
            <a:r>
              <a:t>Planner inputs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2743200"/>
            <a:ext cx="3383280" cy="256032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744"/>
                </a:solidFill>
                <a:latin typeface="Aptos"/>
              </a:defRPr>
            </a:pPr>
            <a:r>
              <a:t>•  Start and destination</a:t>
            </a:r>
          </a:p>
          <a:p>
            <a:pPr>
              <a:spcAft>
                <a:spcPts val="800"/>
              </a:spcAft>
              <a:defRPr sz="1500">
                <a:solidFill>
                  <a:srgbClr val="283744"/>
                </a:solidFill>
                <a:latin typeface="Aptos"/>
              </a:defRPr>
            </a:pPr>
            <a:r>
              <a:t>•  Battery capacity and current charge</a:t>
            </a:r>
          </a:p>
          <a:p>
            <a:pPr>
              <a:spcAft>
                <a:spcPts val="800"/>
              </a:spcAft>
              <a:defRPr sz="1500">
                <a:solidFill>
                  <a:srgbClr val="283744"/>
                </a:solidFill>
                <a:latin typeface="Aptos"/>
              </a:defRPr>
            </a:pPr>
            <a:r>
              <a:t>•  Energy use per kilometre</a:t>
            </a:r>
          </a:p>
          <a:p>
            <a:pPr>
              <a:spcAft>
                <a:spcPts val="800"/>
              </a:spcAft>
              <a:defRPr sz="1500">
                <a:solidFill>
                  <a:srgbClr val="283744"/>
                </a:solidFill>
                <a:latin typeface="Aptos"/>
              </a:defRPr>
            </a:pPr>
            <a:r>
              <a:t>•  Station location, availability and status</a:t>
            </a:r>
          </a:p>
          <a:p>
            <a:pPr>
              <a:spcAft>
                <a:spcPts val="800"/>
              </a:spcAft>
              <a:defRPr sz="1500">
                <a:solidFill>
                  <a:srgbClr val="283744"/>
                </a:solidFill>
                <a:latin typeface="Aptos"/>
              </a:defRPr>
            </a:pPr>
            <a:r>
              <a:t>•  Road distance / travel 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5486400"/>
            <a:ext cx="32918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1E9669"/>
                </a:solidFill>
                <a:latin typeface="Aptos"/>
              </a:defRPr>
            </a:pPr>
            <a:r>
              <a:t>Output: route, stops, cost &amp; explanation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03 • CORE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Three algorithms, three complementary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Each method contributes a visible decision to the final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2331720"/>
            <a:ext cx="658368" cy="658368"/>
          </a:xfrm>
          <a:prstGeom prst="ellipse">
            <a:avLst/>
          </a:prstGeom>
          <a:solidFill>
            <a:srgbClr val="468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82112"/>
            <a:ext cx="2788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32A42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39312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468FC6"/>
                </a:solidFill>
                <a:latin typeface="Aptos"/>
              </a:defRPr>
            </a:pPr>
            <a:r>
              <a:t>Least-cost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87952"/>
            <a:ext cx="276148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283744"/>
                </a:solidFill>
                <a:latin typeface="Aptos"/>
              </a:defRPr>
            </a:pPr>
            <a:r>
              <a:t>Finds the lowest total route cost across connected locations.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5166360"/>
            <a:ext cx="2715768" cy="0"/>
          </a:xfrm>
          <a:prstGeom prst="line">
            <a:avLst/>
          </a:prstGeom>
          <a:ln w="12700">
            <a:solidFill>
              <a:srgbClr val="DDE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01168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16552" y="2331720"/>
            <a:ext cx="658368" cy="658368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182112"/>
            <a:ext cx="2788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32A42"/>
                </a:solidFill>
                <a:latin typeface="Aptos"/>
              </a:defRPr>
            </a:pPr>
            <a:r>
              <a:t>PRIORITY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639312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E9669"/>
                </a:solidFill>
                <a:latin typeface="Aptos"/>
              </a:defRPr>
            </a:pPr>
            <a:r>
              <a:t>Next node to 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187952"/>
            <a:ext cx="276148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283744"/>
                </a:solidFill>
                <a:latin typeface="Aptos"/>
              </a:defRPr>
            </a:pPr>
            <a:r>
              <a:t>Selects the unexplored location with the smallest tentative cost.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16552" y="5166360"/>
            <a:ext cx="2715768" cy="0"/>
          </a:xfrm>
          <a:prstGeom prst="line">
            <a:avLst/>
          </a:prstGeom>
          <a:ln w="12700">
            <a:solidFill>
              <a:srgbClr val="DDE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80960" y="2011680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36992" y="2331720"/>
            <a:ext cx="658368" cy="658368"/>
          </a:xfrm>
          <a:prstGeom prst="ellipse">
            <a:avLst/>
          </a:prstGeom>
          <a:solidFill>
            <a:srgbClr val="F5A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182112"/>
            <a:ext cx="278892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32A42"/>
                </a:solidFill>
                <a:latin typeface="Aptos"/>
              </a:defRPr>
            </a:pPr>
            <a:r>
              <a:t>GREEDY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6992" y="3639312"/>
            <a:ext cx="2788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F5A342"/>
                </a:solidFill>
                <a:latin typeface="Aptos"/>
              </a:defRPr>
            </a:pPr>
            <a:r>
              <a:t>Feasible charging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4187952"/>
            <a:ext cx="2761488" cy="10058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283744"/>
                </a:solidFill>
                <a:latin typeface="Aptos"/>
              </a:defRPr>
            </a:pPr>
            <a:r>
              <a:t>Chooses a nearby reachable station using a defined local rule.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36992" y="5166360"/>
            <a:ext cx="2715768" cy="0"/>
          </a:xfrm>
          <a:prstGeom prst="line">
            <a:avLst/>
          </a:prstGeom>
          <a:ln w="12700">
            <a:solidFill>
              <a:srgbClr val="DDE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697884"/>
                </a:solidFill>
                <a:latin typeface="Aptos"/>
              </a:defRPr>
            </a:pPr>
            <a:r>
              <a:t>Priority rule: smallest tentative route cost first  |  Greedy rule: feasible station with the best local distance/availability trade-off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04 • ALGORITHM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How a recommendation is produced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The planner filters infeasible options, searches the network and explains the selected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6424" y="2697480"/>
            <a:ext cx="594360" cy="594360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Read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Battery, origin, destination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67712" y="3611880"/>
            <a:ext cx="228600" cy="0"/>
          </a:xfrm>
          <a:prstGeom prst="line">
            <a:avLst/>
          </a:prstGeom>
          <a:ln w="254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32888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44952" y="2697480"/>
            <a:ext cx="594360" cy="59436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42616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Build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Nodes, road costs, stations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3611880"/>
            <a:ext cx="228600" cy="0"/>
          </a:xfrm>
          <a:prstGeom prst="line">
            <a:avLst/>
          </a:prstGeom>
          <a:ln w="254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71416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83480" y="2697480"/>
            <a:ext cx="594360" cy="594360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Check feasibility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Estimate reachable distance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44768" y="3611880"/>
            <a:ext cx="228600" cy="0"/>
          </a:xfrm>
          <a:prstGeom prst="line">
            <a:avLst/>
          </a:prstGeom>
          <a:ln w="254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9944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22008" y="2697480"/>
            <a:ext cx="594360" cy="59436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Run Dijkstra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Priority queue explores lowest cost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83296" y="3611880"/>
            <a:ext cx="228600" cy="0"/>
          </a:xfrm>
          <a:prstGeom prst="line">
            <a:avLst/>
          </a:prstGeom>
          <a:ln w="254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348472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0536" y="2697480"/>
            <a:ext cx="594360" cy="594360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Choose 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Greedy rule among feasible stations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21824" y="3611880"/>
            <a:ext cx="228600" cy="0"/>
          </a:xfrm>
          <a:prstGeom prst="line">
            <a:avLst/>
          </a:prstGeom>
          <a:ln w="254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87000" y="2423160"/>
            <a:ext cx="16642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99064" y="2697480"/>
            <a:ext cx="594360" cy="59436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6728" y="3493008"/>
            <a:ext cx="14447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Explain result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3913632"/>
            <a:ext cx="1389888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Route, charge stop, cost, reason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074920"/>
            <a:ext cx="10287000" cy="749808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1">
                <a:solidFill>
                  <a:srgbClr val="1E9669"/>
                </a:solidFill>
                <a:latin typeface="Aptos"/>
              </a:defRPr>
            </a:pPr>
            <a:r>
              <a:t>Decision trace: record explored nodes, tentative costs, skipped stations and the reason for each selected stop.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05 • ILLUSTRATIVE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A route should be both short and energy-feasible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Sample values demonstrate the decision logic; they are not live station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48463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114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900" b="1">
                <a:solidFill>
                  <a:srgbClr val="132A42"/>
                </a:solidFill>
                <a:latin typeface="Aptos"/>
              </a:defRPr>
            </a:pPr>
            <a:r>
              <a:t>Example 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88920"/>
            <a:ext cx="3520440" cy="347472"/>
          </a:xfrm>
          <a:prstGeom prst="roundRect">
            <a:avLst/>
          </a:prstGeom>
          <a:solidFill>
            <a:srgbClr val="E2EBEB"/>
          </a:solidFill>
          <a:ln>
            <a:solidFill>
              <a:srgbClr val="E2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788920"/>
            <a:ext cx="2112264" cy="347472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273552"/>
            <a:ext cx="34747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1">
                <a:solidFill>
                  <a:srgbClr val="283744"/>
                </a:solidFill>
                <a:latin typeface="Aptos"/>
              </a:defRPr>
            </a:pPr>
            <a:r>
              <a:t>Current battery: 60% of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52728" y="4379976"/>
            <a:ext cx="1828800" cy="530352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rapezoid 11"/>
          <p:cNvSpPr/>
          <p:nvPr/>
        </p:nvSpPr>
        <p:spPr>
          <a:xfrm>
            <a:off x="1618488" y="4114800"/>
            <a:ext cx="1051560" cy="502920"/>
          </a:xfrm>
          <a:prstGeom prst="trapezoid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46504" y="4197096"/>
            <a:ext cx="393192" cy="256032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185415" y="4197096"/>
            <a:ext cx="384048" cy="256032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527048" y="4754880"/>
            <a:ext cx="384048" cy="384048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32888" y="4754880"/>
            <a:ext cx="384048" cy="384048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645919" y="487375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51760" y="487375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86200" y="3977639"/>
            <a:ext cx="617220" cy="1110996"/>
          </a:xfrm>
          <a:prstGeom prst="roundRect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993184" y="4109313"/>
            <a:ext cx="403250" cy="312724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ghtning Bolt 20"/>
          <p:cNvSpPr/>
          <p:nvPr/>
        </p:nvSpPr>
        <p:spPr>
          <a:xfrm>
            <a:off x="4108399" y="4504334"/>
            <a:ext cx="197510" cy="312724"/>
          </a:xfrm>
          <a:prstGeom prst="lightningBolt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4503420" y="4240987"/>
            <a:ext cx="205740" cy="189281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09160" y="4430268"/>
            <a:ext cx="0" cy="329184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10404" y="4718304"/>
            <a:ext cx="205740" cy="205740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4297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32A42"/>
                </a:solidFill>
                <a:latin typeface="Aptos"/>
              </a:defRPr>
            </a:pPr>
            <a:r>
              <a:t>Start → reachable station → destination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1874519"/>
            <a:ext cx="5715000" cy="4160520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26480" y="2148840"/>
            <a:ext cx="4937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900" b="1">
                <a:solidFill>
                  <a:srgbClr val="132A42"/>
                </a:solidFill>
                <a:latin typeface="Aptos"/>
              </a:defRPr>
            </a:pPr>
            <a:r>
              <a:t>Decision trace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4768" y="2697480"/>
            <a:ext cx="4892040" cy="256032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83744"/>
                </a:solidFill>
                <a:latin typeface="Aptos"/>
              </a:defRPr>
            </a:pPr>
            <a:r>
              <a:t>•  Estimate energy required for each road segment.</a:t>
            </a:r>
          </a:p>
          <a:p>
            <a:pPr>
              <a:spcAft>
                <a:spcPts val="800"/>
              </a:spcAft>
              <a:defRPr sz="1400">
                <a:solidFill>
                  <a:srgbClr val="283744"/>
                </a:solidFill>
                <a:latin typeface="Aptos"/>
              </a:defRPr>
            </a:pPr>
            <a:r>
              <a:t>•  Remove routes or stations that exceed available energy.</a:t>
            </a:r>
          </a:p>
          <a:p>
            <a:pPr>
              <a:spcAft>
                <a:spcPts val="800"/>
              </a:spcAft>
              <a:defRPr sz="1400">
                <a:solidFill>
                  <a:srgbClr val="283744"/>
                </a:solidFill>
                <a:latin typeface="Aptos"/>
              </a:defRPr>
            </a:pPr>
            <a:r>
              <a:t>•  Use Dijkstra to compare total path costs.</a:t>
            </a:r>
          </a:p>
          <a:p>
            <a:pPr>
              <a:spcAft>
                <a:spcPts val="800"/>
              </a:spcAft>
              <a:defRPr sz="1400">
                <a:solidFill>
                  <a:srgbClr val="283744"/>
                </a:solidFill>
                <a:latin typeface="Aptos"/>
              </a:defRPr>
            </a:pPr>
            <a:r>
              <a:t>•  Use station availability and a greedy feasibility rule to select a stop.</a:t>
            </a:r>
          </a:p>
          <a:p>
            <a:pPr>
              <a:spcAft>
                <a:spcPts val="800"/>
              </a:spcAft>
              <a:defRPr sz="1400">
                <a:solidFill>
                  <a:srgbClr val="283744"/>
                </a:solidFill>
                <a:latin typeface="Aptos"/>
              </a:defRPr>
            </a:pPr>
            <a:r>
              <a:t>•  Present the chosen route with distance and remaining-charge estimate.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440680"/>
            <a:ext cx="47548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1E9669"/>
                </a:solidFill>
                <a:latin typeface="Aptos"/>
              </a:defRPr>
            </a:pPr>
            <a:r>
              <a:t>Key idea: shortest path ≠ always feasible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1E9669"/>
                </a:solidFill>
                <a:latin typeface="Aptos"/>
              </a:defRPr>
            </a:pPr>
            <a:r>
              <a:t>06 • PROTOTYPE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900" b="1">
                <a:solidFill>
                  <a:srgbClr val="132A42"/>
                </a:solidFill>
                <a:latin typeface="Aptos"/>
              </a:defRPr>
            </a:pPr>
            <a:r>
              <a:t>A simple interface makes the algorithm understandable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0">
                <a:solidFill>
                  <a:srgbClr val="697884"/>
                </a:solidFill>
                <a:latin typeface="Aptos"/>
              </a:defRPr>
            </a:pPr>
            <a:r>
              <a:t>The app can show both the recommendation and the reasoning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675120" cy="457200"/>
          </a:xfrm>
          <a:prstGeom prst="rect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1965960"/>
            <a:ext cx="146304" cy="146304"/>
          </a:xfrm>
          <a:prstGeom prst="ellipse">
            <a:avLst/>
          </a:prstGeom>
          <a:solidFill>
            <a:srgbClr val="D9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15568" y="1965960"/>
            <a:ext cx="146304" cy="146304"/>
          </a:xfrm>
          <a:prstGeom prst="ellipse">
            <a:avLst/>
          </a:prstGeom>
          <a:solidFill>
            <a:srgbClr val="F5A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2456" y="1965960"/>
            <a:ext cx="146304" cy="146304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20240" y="1920240"/>
            <a:ext cx="4114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EV CHARGING PLANNER  /  ROUTE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24688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700" b="1">
                <a:solidFill>
                  <a:srgbClr val="132A42"/>
                </a:solidFill>
                <a:latin typeface="Aptos"/>
              </a:defRPr>
            </a:pPr>
            <a:r>
              <a:t>Recommended route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280160" y="3337560"/>
            <a:ext cx="1554480" cy="457200"/>
          </a:xfrm>
          <a:prstGeom prst="line">
            <a:avLst/>
          </a:prstGeom>
          <a:ln w="508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34640" y="3337560"/>
            <a:ext cx="1417320" cy="685800"/>
          </a:xfrm>
          <a:prstGeom prst="line">
            <a:avLst/>
          </a:prstGeom>
          <a:ln w="508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251960" y="3337560"/>
            <a:ext cx="1783080" cy="685800"/>
          </a:xfrm>
          <a:prstGeom prst="line">
            <a:avLst/>
          </a:prstGeom>
          <a:ln w="50800">
            <a:solidFill>
              <a:srgbClr val="1E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024128" y="3566160"/>
            <a:ext cx="502920" cy="502920"/>
          </a:xfrm>
          <a:prstGeom prst="ellipse">
            <a:avLst/>
          </a:prstGeom>
          <a:solidFill>
            <a:srgbClr val="468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2578608" y="3090672"/>
            <a:ext cx="502920" cy="50292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8" name="Oval 17"/>
          <p:cNvSpPr/>
          <p:nvPr/>
        </p:nvSpPr>
        <p:spPr>
          <a:xfrm>
            <a:off x="4005072" y="3776472"/>
            <a:ext cx="502920" cy="502920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5779008" y="3090672"/>
            <a:ext cx="502920" cy="502920"/>
          </a:xfrm>
          <a:prstGeom prst="ellipse">
            <a:avLst/>
          </a:prstGeom>
          <a:solidFill>
            <a:srgbClr val="F5A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59436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100" b="0">
                <a:solidFill>
                  <a:srgbClr val="697884"/>
                </a:solidFill>
                <a:latin typeface="Aptos"/>
              </a:defRPr>
            </a:pPr>
            <a:r>
              <a:t>Origin        Available charger         Road node        Destination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074920"/>
            <a:ext cx="6080760" cy="685800"/>
          </a:xfrm>
          <a:prstGeom prst="roundRect">
            <a:avLst/>
          </a:prstGeom>
          <a:solidFill>
            <a:srgbClr val="F5F9F8"/>
          </a:solidFill>
          <a:ln>
            <a:solidFill>
              <a:srgbClr val="F5F9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230368"/>
            <a:ext cx="566928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200" b="1">
                <a:solidFill>
                  <a:srgbClr val="1E9669"/>
                </a:solidFill>
                <a:latin typeface="Aptos"/>
              </a:defRPr>
            </a:pPr>
            <a:r>
              <a:t>Route cost: 12 units  •  Selected stop: Station S  •  Status: feasible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3840480" cy="4297680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148840"/>
            <a:ext cx="3200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800" b="1">
                <a:solidFill>
                  <a:srgbClr val="132A42"/>
                </a:solidFill>
                <a:latin typeface="Aptos"/>
              </a:defRPr>
            </a:pPr>
            <a:r>
              <a:t>Suggested stack</a:t>
            </a:r>
          </a:p>
        </p:txBody>
      </p:sp>
      <p:sp>
        <p:nvSpPr>
          <p:cNvPr id="25" name="Oval 24"/>
          <p:cNvSpPr/>
          <p:nvPr/>
        </p:nvSpPr>
        <p:spPr>
          <a:xfrm>
            <a:off x="8028431" y="2788920"/>
            <a:ext cx="365760" cy="365760"/>
          </a:xfrm>
          <a:prstGeom prst="ellipse">
            <a:avLst/>
          </a:prstGeom>
          <a:solidFill>
            <a:srgbClr val="468F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770632"/>
            <a:ext cx="2560320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32A42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044952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697884"/>
                </a:solidFill>
                <a:latin typeface="Aptos"/>
              </a:defRPr>
            </a:pPr>
            <a:r>
              <a:t>Map, inputs and result cards</a:t>
            </a:r>
          </a:p>
        </p:txBody>
      </p:sp>
      <p:sp>
        <p:nvSpPr>
          <p:cNvPr id="28" name="Oval 27"/>
          <p:cNvSpPr/>
          <p:nvPr/>
        </p:nvSpPr>
        <p:spPr>
          <a:xfrm>
            <a:off x="8028431" y="3502152"/>
            <a:ext cx="365760" cy="365760"/>
          </a:xfrm>
          <a:prstGeom prst="ellipse">
            <a:avLst/>
          </a:prstGeom>
          <a:solidFill>
            <a:srgbClr val="1E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483864"/>
            <a:ext cx="2560320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32A42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758184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697884"/>
                </a:solidFill>
                <a:latin typeface="Aptos"/>
              </a:defRPr>
            </a:pPr>
            <a:r>
              <a:t>API and algorithm execution</a:t>
            </a:r>
          </a:p>
        </p:txBody>
      </p:sp>
      <p:sp>
        <p:nvSpPr>
          <p:cNvPr id="31" name="Oval 30"/>
          <p:cNvSpPr/>
          <p:nvPr/>
        </p:nvSpPr>
        <p:spPr>
          <a:xfrm>
            <a:off x="8028431" y="4215383"/>
            <a:ext cx="365760" cy="365760"/>
          </a:xfrm>
          <a:prstGeom prst="ellipse">
            <a:avLst/>
          </a:prstGeom>
          <a:solidFill>
            <a:srgbClr val="F5A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4197096"/>
            <a:ext cx="2560320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32A42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471416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697884"/>
                </a:solidFill>
                <a:latin typeface="Aptos"/>
              </a:defRPr>
            </a:pPr>
            <a:r>
              <a:t>Graph, Dijkstra, Greedy, queue</a:t>
            </a:r>
          </a:p>
        </p:txBody>
      </p:sp>
      <p:sp>
        <p:nvSpPr>
          <p:cNvPr id="34" name="Oval 33"/>
          <p:cNvSpPr/>
          <p:nvPr/>
        </p:nvSpPr>
        <p:spPr>
          <a:xfrm>
            <a:off x="8028431" y="4928616"/>
            <a:ext cx="365760" cy="365760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910328"/>
            <a:ext cx="2560320" cy="2468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400" b="1">
                <a:solidFill>
                  <a:srgbClr val="132A42"/>
                </a:solidFill>
                <a:latin typeface="Aptos"/>
              </a:defRPr>
            </a:pPr>
            <a:r>
              <a:t>Station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184648"/>
            <a:ext cx="26517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000" b="0">
                <a:solidFill>
                  <a:srgbClr val="697884"/>
                </a:solidFill>
                <a:latin typeface="Aptos"/>
              </a:defRPr>
            </a:pPr>
            <a:r>
              <a:t>Availability and road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900" b="1">
                <a:solidFill>
                  <a:srgbClr val="697884"/>
                </a:solidFill>
                <a:latin typeface="Aptos"/>
              </a:defRPr>
            </a:pPr>
            <a:r>
              <a:t>EV CHARGING PLANNER  •  DAA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697884"/>
                </a:solidFill>
                <a:latin typeface="Aptos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100" b="1">
                <a:solidFill>
                  <a:srgbClr val="C2E65B"/>
                </a:solidFill>
                <a:latin typeface="Aptos"/>
              </a:defRPr>
            </a:pPr>
            <a:r>
              <a:t>07 • SOLUTION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From route calculation to informed travel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166360" cy="3611880"/>
          </a:xfrm>
          <a:prstGeom prst="roundRect">
            <a:avLst/>
          </a:prstGeom>
          <a:solidFill>
            <a:srgbClr val="1D3B4E"/>
          </a:solidFill>
          <a:ln>
            <a:solidFill>
              <a:srgbClr val="1D3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900" b="1">
                <a:solidFill>
                  <a:srgbClr val="C2E65B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51760"/>
            <a:ext cx="4480560" cy="2331720"/>
          </a:xfrm>
          <a:prstGeom prst="rect">
            <a:avLst/>
          </a:prstGeom>
          <a:noFill/>
        </p:spPr>
        <p:txBody>
          <a:bodyPr wrap="square" lIns="45720" tIns="18288" r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Model roads as a weighted graph.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Use a priority queue with Dijkstra for least-cost routing.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Apply a greedy rule to select a reachable, available charging stop.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Show the path, costs and decision trace in the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1D3B4E"/>
          </a:solidFill>
          <a:ln>
            <a:solidFill>
              <a:srgbClr val="1D3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44805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900" b="1">
                <a:solidFill>
                  <a:srgbClr val="C2E65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51760"/>
            <a:ext cx="4480560" cy="1508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prototype combines route optimization with battery and station constraints. By exposing the choices and estimated costs, it helps users understand why a route and charging stop were recommended.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80080" y="4612965"/>
            <a:ext cx="1316736" cy="381853"/>
          </a:xfrm>
          <a:prstGeom prst="roundRect">
            <a:avLst/>
          </a:prstGeom>
          <a:solidFill>
            <a:srgbClr val="C2E65B"/>
          </a:solidFill>
          <a:ln>
            <a:solidFill>
              <a:srgbClr val="C2E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rapezoid 11"/>
          <p:cNvSpPr/>
          <p:nvPr/>
        </p:nvSpPr>
        <p:spPr>
          <a:xfrm>
            <a:off x="8043428" y="4422038"/>
            <a:ext cx="757123" cy="362102"/>
          </a:xfrm>
          <a:prstGeom prst="trapezoid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5599" y="4481291"/>
            <a:ext cx="283098" cy="184343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51616" y="4481291"/>
            <a:ext cx="276514" cy="184343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977591" y="4882896"/>
            <a:ext cx="276514" cy="276514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701796" y="4882896"/>
            <a:ext cx="276514" cy="276514"/>
          </a:xfrm>
          <a:prstGeom prst="ellipse">
            <a:avLst/>
          </a:prstGeom>
          <a:solidFill>
            <a:srgbClr val="13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63179" y="4968483"/>
            <a:ext cx="105338" cy="105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87384" y="4968483"/>
            <a:ext cx="105338" cy="1053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46920" y="4251960"/>
            <a:ext cx="445770" cy="802386"/>
          </a:xfrm>
          <a:prstGeom prst="roundRect">
            <a:avLst/>
          </a:prstGeom>
          <a:solidFill>
            <a:srgbClr val="132A42"/>
          </a:solidFill>
          <a:ln>
            <a:solidFill>
              <a:srgbClr val="13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24186" y="4347057"/>
            <a:ext cx="291236" cy="225856"/>
          </a:xfrm>
          <a:prstGeom prst="roundRect">
            <a:avLst/>
          </a:prstGeom>
          <a:solidFill>
            <a:srgbClr val="E6F7EF"/>
          </a:solidFill>
          <a:ln>
            <a:solidFill>
              <a:srgbClr val="E6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Lightning Bolt 20"/>
          <p:cNvSpPr/>
          <p:nvPr/>
        </p:nvSpPr>
        <p:spPr>
          <a:xfrm>
            <a:off x="9807397" y="4632350"/>
            <a:ext cx="142646" cy="225856"/>
          </a:xfrm>
          <a:prstGeom prst="lightningBolt">
            <a:avLst/>
          </a:prstGeom>
          <a:solidFill>
            <a:srgbClr val="C2E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0092690" y="4442155"/>
            <a:ext cx="148590" cy="136703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241280" y="4578858"/>
            <a:ext cx="0" cy="237744"/>
          </a:xfrm>
          <a:prstGeom prst="line">
            <a:avLst/>
          </a:prstGeom>
          <a:ln w="38100">
            <a:solidFill>
              <a:srgbClr val="132A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69956" y="4786884"/>
            <a:ext cx="148590" cy="148590"/>
          </a:xfrm>
          <a:prstGeom prst="roundRect">
            <a:avLst/>
          </a:prstGeom>
          <a:solidFill>
            <a:srgbClr val="1E9669"/>
          </a:solidFill>
          <a:ln>
            <a:solidFill>
              <a:srgbClr val="1E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5156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D3E4E9"/>
                </a:solidFill>
                <a:latin typeface="Aptos"/>
              </a:defRPr>
            </a:pPr>
            <a:r>
              <a:t>Next steps: connect live station feeds, add traffic-aware costs, and validate energy estimates with real trip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>
              <a:defRPr sz="900" b="1">
                <a:solidFill>
                  <a:srgbClr val="C8DCE4"/>
                </a:solidFill>
                <a:latin typeface="Aptos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756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ayesha</cp:lastModifiedBy>
  <cp:revision>2</cp:revision>
  <dcterms:created xsi:type="dcterms:W3CDTF">2013-01-27T09:14:16Z</dcterms:created>
  <dcterms:modified xsi:type="dcterms:W3CDTF">2026-10-03T06:50:33Z</dcterms:modified>
  <cp:category/>
</cp:coreProperties>
</file>